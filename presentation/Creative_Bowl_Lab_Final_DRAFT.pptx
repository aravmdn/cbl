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599" y="-1463039"/>
            <a:ext cx="8412480" cy="8412480"/>
          </a:xfrm>
          <a:prstGeom prst="ellipse">
            <a:avLst/>
          </a:prstGeom>
          <a:gradFill rotWithShape="1">
            <a:gsLst>
              <a:gs pos="0">
                <a:srgbClr val="8B5CF6">
                  <a:alpha val="3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79" y="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22D3EE">
                  <a:alpha val="26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TU/E  ·  MULTI-DISCIPLINARY CBL  ·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0919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F3F2F8"/>
                </a:solidFill>
                <a:latin typeface="Garamond"/>
              </a:rPr>
              <a:t>Creative Bowl Lab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2889504"/>
            <a:ext cx="1828800" cy="0"/>
          </a:xfrm>
          <a:prstGeom prst="bentConnector3">
            <a:avLst/>
          </a:prstGeom>
          <a:ln w="3048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310896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C9C8D8"/>
                </a:solidFill>
                <a:latin typeface="Garamond"/>
              </a:rPr>
              <a:t>Making meditation visible — where a singing bowl, a heartbeat,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C9C8D8"/>
                </a:solidFill>
                <a:latin typeface="Garamond"/>
              </a:rPr>
              <a:t>and a living body become one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F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56370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71492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86614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01737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6859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1981" y="5138928"/>
            <a:ext cx="778546" cy="146304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5046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260">
                <a:solidFill>
                  <a:srgbClr val="D9B775"/>
                </a:solidFill>
                <a:latin typeface="Segoe UI"/>
              </a:rPr>
              <a:t>FINAL PRESENTATION  ·  19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40">
                <a:solidFill>
                  <a:srgbClr val="8A899F"/>
                </a:solidFill>
                <a:latin typeface="Segoe UI"/>
              </a:rPr>
              <a:t>Arav Madan   ·   Joris Geleijns   ·   Henk   ·   Alice Ribeiro Mota Vieira   ·   Mahiraa   ·   Alejandra Otero Bozzano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120"/>
                      </p:stCondLst>
                      <p:childTnLst>
                        <p:par>
                          <p:cTn id="11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4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6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76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7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2" dur="46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60"/>
                      </p:stCondLst>
                      <p:childTnLst>
                        <p:par>
                          <p:cTn id="12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6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2" dur="3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7" dur="3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2" dur="3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7" dur="3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2" dur="3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5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7" dur="3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2" dur="3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80"/>
                      </p:stCondLst>
                      <p:childTnLst>
                        <p:par>
                          <p:cTn id="16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40"/>
                      </p:stCondLst>
                      <p:childTnLst>
                        <p:par>
                          <p:cTn id="17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201168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SIX DISCIPLINES, ONE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A living artwork, built across the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199339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157984"/>
            <a:ext cx="54864" cy="129844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1284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22D3EE"/>
                </a:solidFill>
                <a:latin typeface="Segoe UI"/>
              </a:rPr>
              <a:t>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2374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Arav Madan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443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Signal pipeline, TouchDesigner, Arduino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99339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2157984"/>
            <a:ext cx="54864" cy="129844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21284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8B5CF6"/>
                </a:solidFill>
                <a:latin typeface="Segoe UI"/>
              </a:rPr>
              <a:t>PSYCHOLOGY &amp;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52374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Joris Geleijns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9443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Meaning, perception, the health research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99339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2157984"/>
            <a:ext cx="54864" cy="1298448"/>
          </a:xfrm>
          <a:prstGeom prst="roundRect">
            <a:avLst/>
          </a:prstGeom>
          <a:solidFill>
            <a:srgbClr val="D9B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21284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D9B775"/>
                </a:solidFill>
                <a:latin typeface="Segoe UI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52374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Henk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9443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Space, the participant's position, atmosphere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91363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078224"/>
            <a:ext cx="54864" cy="12984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13308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34D399"/>
                </a:solidFill>
                <a:latin typeface="Segoe UI"/>
              </a:rPr>
              <a:t>CHEMICAL ENG.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44398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Alice R. M. Vieira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86460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Bowl frequency experiments, materials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91363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4078224"/>
            <a:ext cx="54864" cy="1298448"/>
          </a:xfrm>
          <a:prstGeom prst="roundRect">
            <a:avLst/>
          </a:prstGeom>
          <a:solidFill>
            <a:srgbClr val="FB7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13308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FB7138"/>
                </a:solidFill>
                <a:latin typeface="Segoe UI"/>
              </a:rPr>
              <a:t>INDUSTRIAL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444398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Mahiraa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486460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Requirements, Arduino &amp; physical build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3913632"/>
            <a:ext cx="3310128" cy="1627632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10144" y="4078224"/>
            <a:ext cx="54864" cy="1298448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413308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FB7185"/>
                </a:solidFill>
                <a:latin typeface="Segoe UI"/>
              </a:rPr>
              <a:t>MECHANICAL ENG.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443984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Alejandra O. Bozzano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86460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Cymatics model, report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THE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02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6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2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"/>
                      </p:stCondLst>
                      <p:childTnLst>
                        <p:par>
                          <p:cTn id="12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2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60"/>
                      </p:stCondLst>
                      <p:childTnLst>
                        <p:par>
                          <p:cTn id="129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7" dur="52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8" dur="5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60"/>
                      </p:stCondLst>
                      <p:childTnLst>
                        <p:par>
                          <p:cTn id="134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2" dur="52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3" dur="5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60"/>
                      </p:stCondLst>
                      <p:childTnLst>
                        <p:par>
                          <p:cTn id="139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7" dur="52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8" dur="5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60"/>
                      </p:stCondLst>
                      <p:childTnLst>
                        <p:par>
                          <p:cTn id="14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2" dur="52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3" dur="52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1280159"/>
            <a:ext cx="7680960" cy="7680960"/>
          </a:xfrm>
          <a:prstGeom prst="ellipse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Can you watch yourself calm down?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121408"/>
            <a:ext cx="5943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9C8D8"/>
                </a:solidFill>
                <a:latin typeface="Segoe UI"/>
              </a:rPr>
              <a:t>Students live under near-constant stress. Meditation and sound can genuinely settle the body — but that shift is invisible. You feel it; you never see it.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9C8D8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9C8D8"/>
                </a:solidFill>
                <a:latin typeface="Segoe UI"/>
              </a:rPr>
              <a:t>Our goal: an interactive installation that turns a moment of calm into something you can watch happen, in real time, around your own body.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21408"/>
            <a:ext cx="4041648" cy="3383280"/>
          </a:xfrm>
          <a:prstGeom prst="roundRect">
            <a:avLst>
              <a:gd name="adj" fmla="val 6000"/>
            </a:avLst>
          </a:prstGeom>
          <a:solidFill>
            <a:srgbClr val="1A1A2A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6096" y="2395728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D9B775"/>
                </a:solidFill>
                <a:latin typeface="Segoe UI"/>
              </a:rPr>
              <a:t>WHY IT'S A CHALLENGING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6096" y="2798064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Original.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There is no off-the-shelf version of this — we designed the whole sound-to-image chain ourselves.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3639312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8B5CF6"/>
                </a:solidFill>
                <a:latin typeface="Segoe UI"/>
              </a:rPr>
              <a:t>Complex.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Fusing live bowl sound, a heartbeat and body-tracking into one GPU image,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448056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Innovative.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It makes an invisible state — your body calming — into something you can watch.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GOAL &amp;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03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8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64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120"/>
                      </p:stCondLst>
                      <p:childTnLst>
                        <p:par>
                          <p:cTn id="124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6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40"/>
                      </p:stCondLst>
                      <p:childTnLst>
                        <p:par>
                          <p:cTn id="12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40"/>
                      </p:stCondLst>
                      <p:childTnLst>
                        <p:par>
                          <p:cTn id="1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40"/>
                      </p:stCondLst>
                      <p:childTnLst>
                        <p:par>
                          <p:cTn id="13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WHY IT WORKS —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Sound slows the body down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121408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395727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34D399"/>
                </a:solidFill>
                <a:latin typeface="Garamond"/>
              </a:rPr>
              <a:t>↑ HRV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035808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40">
                <a:solidFill>
                  <a:srgbClr val="F3F2F8"/>
                </a:solidFill>
                <a:latin typeface="Segoe UI"/>
              </a:rPr>
              <a:t>Singing bowls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456432"/>
            <a:ext cx="28529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8D8"/>
                </a:solidFill>
                <a:latin typeface="Segoe UI"/>
              </a:rPr>
              <a:t>Bowl meditation lowered the stress index and raised heart-rate variability versus silence.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480560"/>
            <a:ext cx="29077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899F"/>
                </a:solidFill>
                <a:latin typeface="Segoe UI"/>
              </a:rPr>
              <a:t>Trivedi &amp; Saboo,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21408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2395727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D3EE"/>
                </a:solidFill>
                <a:latin typeface="Garamond"/>
              </a:rPr>
              <a:t>↓ HR / 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3035808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40">
                <a:solidFill>
                  <a:srgbClr val="F3F2F8"/>
                </a:solidFill>
                <a:latin typeface="Segoe UI"/>
              </a:rPr>
              <a:t>Music &amp; the heart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3456432"/>
            <a:ext cx="28529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8D8"/>
                </a:solidFill>
                <a:latin typeface="Segoe UI"/>
              </a:rPr>
              <a:t>Music increases parasympathetic (“rest-and-digest”) activity and lowers heart rate and blood pressure.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4480560"/>
            <a:ext cx="29077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899F"/>
                </a:solidFill>
                <a:latin typeface="Segoe UI"/>
              </a:rPr>
              <a:t>Mojtabavi et al., 2020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121408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395727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5CF6"/>
                </a:solidFill>
                <a:latin typeface="Garamond"/>
              </a:rPr>
              <a:t>↓ Anxiety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035808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40">
                <a:solidFill>
                  <a:srgbClr val="F3F2F8"/>
                </a:solidFill>
                <a:latin typeface="Segoe UI"/>
              </a:rPr>
              <a:t>Bowl therapy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456432"/>
            <a:ext cx="28529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8D8"/>
                </a:solidFill>
                <a:latin typeface="Segoe UI"/>
              </a:rPr>
              <a:t>A 2025 systematic review links singing-bowl therapy to reduced anxiety and improved sleep.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480560"/>
            <a:ext cx="29077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899F"/>
                </a:solidFill>
                <a:latin typeface="Segoe UI"/>
              </a:rPr>
              <a:t>Cai et al.,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175504"/>
            <a:ext cx="10509199" cy="603504"/>
          </a:xfrm>
          <a:prstGeom prst="roundRect">
            <a:avLst>
              <a:gd name="adj" fmla="val 18000"/>
            </a:avLst>
          </a:prstGeom>
          <a:solidFill>
            <a:srgbClr val="120F18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5175504"/>
            <a:ext cx="98691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5A623"/>
                </a:solidFill>
                <a:latin typeface="Segoe UI"/>
              </a:rPr>
              <a:t>An honest framing:  </a:t>
            </a:r>
            <a:r>
              <a:rPr sz="1350" b="0" i="0">
                <a:solidFill>
                  <a:srgbClr val="C9C8D8"/>
                </a:solidFill>
                <a:latin typeface="Segoe UI"/>
              </a:rPr>
              <a:t>we present this as relaxation and mood support — a calming experience — not a proven medical treatment.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SCIENTIFIC GROUNDING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04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8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6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80"/>
                      </p:stCondLst>
                      <p:childTnLst>
                        <p:par>
                          <p:cTn id="12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6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80"/>
                      </p:stCondLst>
                      <p:childTnLst>
                        <p:par>
                          <p:cTn id="129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7" dur="56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8" dur="5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80"/>
                      </p:stCondLst>
                      <p:childTnLst>
                        <p:par>
                          <p:cTn id="1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1645920"/>
            <a:ext cx="8412480" cy="8412480"/>
          </a:xfrm>
          <a:prstGeom prst="ellipse">
            <a:avLst/>
          </a:prstGeom>
          <a:gradFill rotWithShape="1">
            <a:gsLst>
              <a:gs pos="0">
                <a:srgbClr val="8B5CF6">
                  <a:alpha val="16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HOW WE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A triple-diamond design process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841248" y="2468880"/>
            <a:ext cx="2011680" cy="2011680"/>
          </a:xfrm>
          <a:prstGeom prst="diamond">
            <a:avLst/>
          </a:prstGeom>
          <a:solidFill>
            <a:srgbClr val="1A1A2A"/>
          </a:solidFill>
          <a:ln w="203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03580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D3EE"/>
                </a:solidFill>
                <a:latin typeface="Garamo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2958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F3F2F8"/>
                </a:solidFill>
                <a:latin typeface="Segoe UI"/>
              </a:rP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90288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Photography, music,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poetry, engineering 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7147" y="3108960"/>
            <a:ext cx="548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C2C40"/>
                </a:solidFill>
                <a:latin typeface="Segoe UI"/>
              </a:rPr>
              <a:t>›</a:t>
            </a:r>
          </a:p>
        </p:txBody>
      </p:sp>
      <p:sp>
        <p:nvSpPr>
          <p:cNvPr id="12" name="Diamond 11"/>
          <p:cNvSpPr/>
          <p:nvPr/>
        </p:nvSpPr>
        <p:spPr>
          <a:xfrm>
            <a:off x="5090007" y="2468880"/>
            <a:ext cx="2011680" cy="2011680"/>
          </a:xfrm>
          <a:prstGeom prst="diamond">
            <a:avLst/>
          </a:prstGeom>
          <a:solidFill>
            <a:srgbClr val="1A1A2A"/>
          </a:solidFill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303580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5CF6"/>
                </a:solidFill>
                <a:latin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52958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F3F2F8"/>
                </a:solidFill>
                <a:latin typeface="Segoe UI"/>
              </a:rPr>
              <a:t>CONVERGE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4590288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Bowl + sound,  lens filter,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poetry with 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5907" y="3108960"/>
            <a:ext cx="548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C2C40"/>
                </a:solidFill>
                <a:latin typeface="Segoe UI"/>
              </a:rPr>
              <a:t>›</a:t>
            </a:r>
          </a:p>
        </p:txBody>
      </p:sp>
      <p:sp>
        <p:nvSpPr>
          <p:cNvPr id="17" name="Diamond 16"/>
          <p:cNvSpPr/>
          <p:nvPr/>
        </p:nvSpPr>
        <p:spPr>
          <a:xfrm>
            <a:off x="9338767" y="2468880"/>
            <a:ext cx="2011680" cy="2011680"/>
          </a:xfrm>
          <a:prstGeom prst="diamond">
            <a:avLst/>
          </a:prstGeom>
          <a:solidFill>
            <a:srgbClr val="1A1A2A"/>
          </a:solidFill>
          <a:ln w="2032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8767" y="303580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D9B775"/>
                </a:solidFill>
                <a:latin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767" y="352958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F3F2F8"/>
                </a:solidFill>
                <a:latin typeface="Segoe UI"/>
              </a:rPr>
              <a:t>REFOCUS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887" y="4590288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One clear story:  bowl +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heartbeat +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C9C8D8"/>
                </a:solidFill>
                <a:latin typeface="Garamond"/>
              </a:rPr>
              <a:t>Each diamond widened with ideas, then narrowed with research and a €100 reality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DESIGN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05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"/>
                      </p:stCondLst>
                      <p:childTnLst>
                        <p:par>
                          <p:cTn id="124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560"/>
                                  <p:tgtEl>
                                    <p:spTgt spid="7"/>
                                  </p:tgtEl>
                                </p:cBhvr>
                              </p:animEffect>
                              <p:animScale>
                                <p:cBhvr>
                                  <p:cTn id="123" dur="560" fill="hold"/>
                                  <p:tgtEl>
                                    <p:spTgt spid="7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60"/>
                      </p:stCondLst>
                      <p:childTnLst>
                        <p:par>
                          <p:cTn id="13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560"/>
                                  <p:tgtEl>
                                    <p:spTgt spid="12"/>
                                  </p:tgtEl>
                                </p:cBhvr>
                              </p:animEffect>
                              <p:animScale>
                                <p:cBhvr>
                                  <p:cTn id="138" dur="560" fill="hold"/>
                                  <p:tgtEl>
                                    <p:spTgt spid="12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2" dur="4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60"/>
                      </p:stCondLst>
                      <p:childTnLst>
                        <p:par>
                          <p:cTn id="14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560"/>
                                  <p:tgtEl>
                                    <p:spTgt spid="17"/>
                                  </p:tgtEl>
                                </p:cBhvr>
                              </p:animEffect>
                              <p:animScale>
                                <p:cBhvr>
                                  <p:cTn id="148" dur="560" fill="hold"/>
                                  <p:tgtEl>
                                    <p:spTgt spid="17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46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60"/>
                      </p:stCondLst>
                      <p:childTnLst>
                        <p:par>
                          <p:cTn id="15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6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DECISIONS &amp; MID-TERM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Why the scope is what it 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1847088"/>
            <a:ext cx="10509199" cy="548640"/>
          </a:xfrm>
          <a:prstGeom prst="roundRect">
            <a:avLst>
              <a:gd name="adj" fmla="val 16000"/>
            </a:avLst>
          </a:prstGeom>
          <a:solidFill>
            <a:srgbClr val="120F18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847088"/>
            <a:ext cx="98691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B7185"/>
                </a:solidFill>
                <a:latin typeface="Segoe UI"/>
              </a:rPr>
              <a:t>Mid-term jury: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“not visualised · too complex · unclear.”   Our response — cut to one clear, visible story. Every decision below follows from that.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542032"/>
            <a:ext cx="10509199" cy="603504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542032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C8D8"/>
                </a:solidFill>
                <a:latin typeface="Garamond"/>
              </a:rPr>
              <a:t>Photography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679191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8A899F">
              <a:alpha val="18000"/>
            </a:srgbClr>
          </a:solidFill>
          <a:ln w="12700">
            <a:solidFill>
              <a:srgbClr val="8A8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2688336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A899F"/>
                </a:solidFill>
                <a:latin typeface="Segoe UI"/>
              </a:rPr>
              <a:t>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542032"/>
            <a:ext cx="52056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Too static — it never read as a living, reacting 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218687"/>
            <a:ext cx="10509199" cy="603504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218687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C8D8"/>
                </a:solidFill>
                <a:latin typeface="Garamond"/>
              </a:rPr>
              <a:t>Lens / camera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3355847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8A899F">
              <a:alpha val="18000"/>
            </a:srgbClr>
          </a:solidFill>
          <a:ln w="12700">
            <a:solidFill>
              <a:srgbClr val="8A8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3364991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A899F"/>
                </a:solidFill>
                <a:latin typeface="Segoe UI"/>
              </a:rPr>
              <a:t>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218687"/>
            <a:ext cx="52056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Expensive and physically large for an 8-week, €100 build.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895344"/>
            <a:ext cx="10509199" cy="603504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895344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C8D8"/>
                </a:solidFill>
                <a:latin typeface="Garamond"/>
              </a:rPr>
              <a:t>Physical fluid rig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03250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5A623">
              <a:alpha val="18000"/>
            </a:srgbClr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404164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F5A623"/>
                </a:solidFill>
                <a:latin typeface="Segoe UI"/>
              </a:rPr>
              <a:t>Folded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3895344"/>
            <a:ext cx="52056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Subtle and fragile — reborn as digital cymatics on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72000"/>
            <a:ext cx="10509199" cy="603504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457200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C8D8"/>
                </a:solidFill>
                <a:latin typeface="Garamond"/>
              </a:rPr>
              <a:t>Poetry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47091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8A899F">
              <a:alpha val="18000"/>
            </a:srgbClr>
          </a:solidFill>
          <a:ln w="12700">
            <a:solidFill>
              <a:srgbClr val="8A8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4718304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A899F"/>
                </a:solidFill>
                <a:latin typeface="Segoe UI"/>
              </a:rPr>
              <a:t>Dropped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4572000"/>
            <a:ext cx="52056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Negligible measurable body effect; it diluted the story.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248656"/>
            <a:ext cx="10509199" cy="603504"/>
          </a:xfrm>
          <a:prstGeom prst="roundRect">
            <a:avLst>
              <a:gd name="adj" fmla="val 10000"/>
            </a:avLst>
          </a:prstGeom>
          <a:solidFill>
            <a:srgbClr val="1A1A2A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2144" y="5248656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2F8"/>
                </a:solidFill>
                <a:latin typeface="Garamond"/>
              </a:rPr>
              <a:t>Bowl + heartbeat + body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38581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5394960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34D399"/>
                </a:solidFill>
                <a:latin typeface="Segoe UI"/>
              </a:rPr>
              <a:t>Chosen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5248656"/>
            <a:ext cx="52056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Research-backed, interactive, and every discipline contributes.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WHAT WE DISCARDED &amp; WHY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06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6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4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30"/>
                      </p:stCondLst>
                      <p:childTnLst>
                        <p:par>
                          <p:cTn id="12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2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30"/>
                      </p:stCondLst>
                      <p:childTnLst>
                        <p:par>
                          <p:cTn id="12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7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30"/>
                      </p:stCondLst>
                      <p:childTnLst>
                        <p:par>
                          <p:cTn id="13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2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0"/>
                      </p:stCondLst>
                      <p:childTnLst>
                        <p:par>
                          <p:cTn id="13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7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30"/>
                      </p:stCondLst>
                      <p:childTnLst>
                        <p:par>
                          <p:cTn id="14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2" dur="4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REQUIREMENTS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What the piece must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1031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03120"/>
            <a:ext cx="2606040" cy="475488"/>
          </a:xfrm>
          <a:prstGeom prst="rect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57984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34D399"/>
                </a:solidFill>
                <a:latin typeface="Segoe UI"/>
              </a:rPr>
              <a:t>MUST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98063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React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39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Bowl sound →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85615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Heartbeat → 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7939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Run on one laptop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6744" y="21031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6744" y="2103120"/>
            <a:ext cx="2606040" cy="475488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157984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22D3EE"/>
                </a:solidFill>
                <a:latin typeface="Segoe UI"/>
              </a:rPr>
              <a:t>SHOULD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798063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Track the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3291839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Work fully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3785615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Feel calm &amp; immersive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6" y="427939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Each discipline 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1031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2606040" cy="475488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57984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8B5CF6"/>
                </a:solidFill>
                <a:latin typeface="Segoe UI"/>
              </a:rPr>
              <a:t>COULD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798063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B5CF6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Extra instruments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291839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B5CF6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Background removal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785615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B5CF6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Recorded keepsake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427939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B5CF6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Multiple people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7736" y="21031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7736" y="2103120"/>
            <a:ext cx="2606040" cy="475488"/>
          </a:xfrm>
          <a:prstGeom prst="rect">
            <a:avLst/>
          </a:prstGeom>
          <a:solidFill>
            <a:srgbClr val="8A899F">
              <a:alpha val="16000"/>
            </a:srgbClr>
          </a:solidFill>
          <a:ln w="12700">
            <a:solidFill>
              <a:srgbClr val="8A8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2157984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8A899F"/>
                </a:solidFill>
                <a:latin typeface="Segoe UI"/>
              </a:rPr>
              <a:t>WON'T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7" y="2798063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A899F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Medical claims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7" y="3291839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A899F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Cloud / internet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7" y="3785615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A899F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Paid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7" y="427939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A899F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Custom hardware lab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5212080"/>
            <a:ext cx="10509199" cy="566928"/>
          </a:xfrm>
          <a:prstGeom prst="roundRect">
            <a:avLst>
              <a:gd name="adj" fmla="val 16000"/>
            </a:avLst>
          </a:prstGeom>
          <a:solidFill>
            <a:srgbClr val="0F0F18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2144" y="5212080"/>
            <a:ext cx="98691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D9B775"/>
                </a:solidFill>
                <a:latin typeface="Segoe UI"/>
              </a:rPr>
              <a:t>Hard constraints:   </a:t>
            </a:r>
            <a:r>
              <a:rPr sz="1300" b="0" i="0">
                <a:solidFill>
                  <a:srgbClr val="C9C8D8"/>
                </a:solidFill>
                <a:latin typeface="Segoe UI"/>
              </a:rPr>
              <a:t>€100 budget   ·   no internet at the demo   ·   one webcam   ·   six disciplines   ·   ready for 19 June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REQUIREMENTS (MOSCOW)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07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6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2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"/>
                      </p:stCondLst>
                      <p:childTnLst>
                        <p:par>
                          <p:cTn id="12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2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60"/>
                      </p:stCondLst>
                      <p:childTnLst>
                        <p:par>
                          <p:cTn id="129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7" dur="52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8" dur="5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60"/>
                      </p:stCondLst>
                      <p:childTnLst>
                        <p:par>
                          <p:cTn id="13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2" dur="52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3" dur="5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60"/>
                      </p:stCondLst>
                      <p:childTnLst>
                        <p:par>
                          <p:cTn id="13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8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-1828800"/>
            <a:ext cx="9509760" cy="9509760"/>
          </a:xfrm>
          <a:prstGeom prst="ellipse">
            <a:avLst/>
          </a:prstGeom>
          <a:gradFill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Three signals, one image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011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F3F2F8"/>
                </a:solidFill>
                <a:latin typeface="Garamond"/>
              </a:rPr>
              <a:t>One person. One bowl. One camera. — woven into a single living visual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383280"/>
            <a:ext cx="3456432" cy="210312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59736" y="3694176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41648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34D399"/>
                </a:solidFill>
                <a:latin typeface="Segoe UI"/>
              </a:rPr>
              <a:t>THE BOWL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352544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3F2F8"/>
                </a:solidFill>
                <a:latin typeface="Garamond"/>
              </a:rPr>
              <a:t>sets the colour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809744"/>
            <a:ext cx="2871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Its frequency picks the chakra hue and the cymatic pattern.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383280"/>
            <a:ext cx="3456432" cy="210312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90488" y="3694176"/>
            <a:ext cx="219456" cy="21945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41648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FB7185"/>
                </a:solidFill>
                <a:latin typeface="Segoe UI"/>
              </a:rPr>
              <a:t>THE 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52544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3F2F8"/>
                </a:solidFill>
                <a:latin typeface="Garamond"/>
              </a:rPr>
              <a:t>sets the pulse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4809744"/>
            <a:ext cx="2871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Every beat makes the whole image gently throb — and tints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3383280"/>
            <a:ext cx="3456432" cy="210312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21240" y="3694176"/>
            <a:ext cx="219456" cy="2194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041648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22D3EE"/>
                </a:solidFill>
                <a:latin typeface="Segoe UI"/>
              </a:rPr>
              <a:t>THE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352544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3F2F8"/>
                </a:solidFill>
                <a:latin typeface="Garamond"/>
              </a:rPr>
              <a:t>sets the 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809744"/>
            <a:ext cx="2871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The camera finds you, and the visuals wrap around your 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THE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08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8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64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70"/>
                      </p:stCondLst>
                      <p:childTnLst>
                        <p:par>
                          <p:cTn id="124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4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4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360"/>
                                  <p:tgtEl>
                                    <p:spTgt spid="9"/>
                                  </p:tgtEl>
                                </p:cBhvr>
                              </p:animEffect>
                              <p:animScale>
                                <p:cBhvr>
                                  <p:cTn id="128" dur="360" fill="hold"/>
                                  <p:tgtEl>
                                    <p:spTgt spid="9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70"/>
                      </p:stCondLst>
                      <p:childTnLst>
                        <p:par>
                          <p:cTn id="13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2" dur="54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3" dur="54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360"/>
                                  <p:tgtEl>
                                    <p:spTgt spid="14"/>
                                  </p:tgtEl>
                                </p:cBhvr>
                              </p:animEffect>
                              <p:animScale>
                                <p:cBhvr>
                                  <p:cTn id="138" dur="360" fill="hold"/>
                                  <p:tgtEl>
                                    <p:spTgt spid="14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70"/>
                      </p:stCondLst>
                      <p:childTnLst>
                        <p:par>
                          <p:cTn id="14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2" dur="54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3" dur="54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360"/>
                                  <p:tgtEl>
                                    <p:spTgt spid="19"/>
                                  </p:tgtEl>
                                </p:cBhvr>
                              </p:animEffect>
                              <p:animScale>
                                <p:cBhvr>
                                  <p:cTn id="148" dur="360" fill="hold"/>
                                  <p:tgtEl>
                                    <p:spTgt spid="19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92240" y="731519"/>
            <a:ext cx="7680960" cy="7680960"/>
          </a:xfrm>
          <a:prstGeom prst="ellipse">
            <a:avLst/>
          </a:prstGeom>
          <a:gradFill rotWithShape="1">
            <a:gsLst>
              <a:gs pos="0">
                <a:srgbClr val="22D3EE">
                  <a:alpha val="16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22D3EE"/>
                </a:solidFill>
                <a:latin typeface="Segoe UI"/>
              </a:rPr>
              <a:t>USER-CENTRED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Anyone can walk up and feel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084831"/>
            <a:ext cx="5029200" cy="1627632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249424"/>
            <a:ext cx="54864" cy="129844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32257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No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79776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You are the interface — step in and it simply responds. Nothing to read, nothing to operate.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84831"/>
            <a:ext cx="5029200" cy="1627632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2249424"/>
            <a:ext cx="54864" cy="129844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Made for any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779776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MediaPipe tracks any height and any pose, so the visuals find every visitor the same 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986783"/>
            <a:ext cx="5029200" cy="1627632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4151375"/>
            <a:ext cx="54864" cy="12984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422452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Calming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681727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Slow motion, soft colour and a dark, quiet space — built to settle a stressed visitor, not overload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986783"/>
            <a:ext cx="5029200" cy="1627632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4151375"/>
            <a:ext cx="54864" cy="1298448"/>
          </a:xfrm>
          <a:prstGeom prst="roundRect">
            <a:avLst/>
          </a:prstGeom>
          <a:solidFill>
            <a:srgbClr val="D9B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422452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2F8"/>
                </a:solidFill>
                <a:latin typeface="Garamond"/>
              </a:rPr>
              <a:t>The space leads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681727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99F"/>
                </a:solidFill>
                <a:latin typeface="Segoe UI"/>
              </a:rPr>
              <a:t>One bowl, one focus, black surroundings — the piece guides the whole experience without a word.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65099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C9C8D8"/>
                </a:solidFill>
                <a:latin typeface="Garamond"/>
              </a:rPr>
              <a:t>Every design choice met one test: would a stressed stranger understand it in five seconds?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USER-CENTRED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09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6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2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"/>
                      </p:stCondLst>
                      <p:childTnLst>
                        <p:par>
                          <p:cTn id="12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2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60"/>
                      </p:stCondLst>
                      <p:childTnLst>
                        <p:par>
                          <p:cTn id="129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7" dur="52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8" dur="5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60"/>
                      </p:stCondLst>
                      <p:childTnLst>
                        <p:par>
                          <p:cTn id="13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2" dur="52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3" dur="5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60"/>
                      </p:stCondLst>
                      <p:childTnLst>
                        <p:par>
                          <p:cTn id="13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Inputs  →  processing  →  outputs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2688" y="199339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80">
                <a:solidFill>
                  <a:srgbClr val="22D3EE"/>
                </a:solidFill>
                <a:latin typeface="Segoe U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99339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80">
                <a:solidFill>
                  <a:srgbClr val="8B5CF6"/>
                </a:solidFill>
                <a:latin typeface="Segoe UI"/>
              </a:rPr>
              <a:t>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9339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80">
                <a:solidFill>
                  <a:srgbClr val="D9B775"/>
                </a:solidFill>
                <a:latin typeface="Segoe UI"/>
              </a:rPr>
              <a:t>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432304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578608"/>
            <a:ext cx="54864" cy="54864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5786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Bowl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07792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microphone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432304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578608"/>
            <a:ext cx="54864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5786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FFT  /  Goertzel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907792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nearest chakra, 396–963 Hz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432304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2578608"/>
            <a:ext cx="54864" cy="54864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2706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Colour &amp; cymatics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432304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432304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3584448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3730752"/>
            <a:ext cx="54864" cy="5486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7307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059935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Arduino pulse sensor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3584448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00600" y="3730752"/>
            <a:ext cx="54864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4" y="37307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BPM  →  LFO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4059935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smoothed pulse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584448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60" y="3730752"/>
            <a:ext cx="54864" cy="5486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3858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Pulsing throb &amp; tint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7368" y="3584448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584448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736592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2688" y="4882896"/>
            <a:ext cx="54864" cy="54864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0432" y="4882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The body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5212079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webcam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4736592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00600" y="4882896"/>
            <a:ext cx="54864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38344" y="4882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MediaPipe 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8344" y="5212079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99F"/>
                </a:solidFill>
                <a:latin typeface="Segoe UI"/>
              </a:rPr>
              <a:t>head, hands, torso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4736592"/>
            <a:ext cx="3108960" cy="841248"/>
          </a:xfrm>
          <a:prstGeom prst="roundRect">
            <a:avLst>
              <a:gd name="adj" fmla="val 12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95360" y="4882896"/>
            <a:ext cx="54864" cy="54864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33104" y="5010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2F8"/>
                </a:solidFill>
                <a:latin typeface="Segoe UI"/>
              </a:rPr>
              <a:t>Aura wraps the body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87368" y="4736592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736592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C2C40"/>
                </a:solidFill>
                <a:latin typeface="Segoe U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9436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C9C8D8"/>
                </a:solidFill>
                <a:latin typeface="Garamond"/>
              </a:rPr>
              <a:t>All of it runs on the GPU in TouchDesigner — one laptop, one webcam, no internet.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SYSTEM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10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2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26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3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26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3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20"/>
                      </p:stCondLst>
                      <p:childTnLst>
                        <p:par>
                          <p:cTn id="14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2" dur="36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26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36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26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3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20"/>
                      </p:stCondLst>
                      <p:childTnLst>
                        <p:par>
                          <p:cTn id="16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36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26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36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2" dur="26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36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60"/>
                      </p:stCondLst>
                      <p:childTnLst>
                        <p:par>
                          <p:cTn id="19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46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PROTOTYPE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A working prototype — and we tested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83664"/>
            <a:ext cx="4974336" cy="1883664"/>
          </a:xfrm>
          <a:prstGeom prst="roundRect">
            <a:avLst>
              <a:gd name="adj" fmla="val 5000"/>
            </a:avLst>
          </a:prstGeom>
          <a:solidFill>
            <a:srgbClr val="0A0A12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wl_p4_x36_794x282.png"/>
          <p:cNvPicPr>
            <a:picLocks noChangeAspect="1"/>
          </p:cNvPicPr>
          <p:nvPr/>
        </p:nvPicPr>
        <p:blipFill>
          <a:blip r:embed="rId2"/>
          <a:srcRect t="13000" b="5000" l="2000" r="7000"/>
          <a:stretch>
            <a:fillRect/>
          </a:stretch>
        </p:blipFill>
        <p:spPr>
          <a:xfrm>
            <a:off x="841248" y="1993392"/>
            <a:ext cx="4754880" cy="16887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" y="3456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EMPTY BOWL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341985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3F2F8"/>
                </a:solidFill>
                <a:latin typeface="Garamond"/>
              </a:rPr>
              <a:t>647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883664"/>
            <a:ext cx="4974336" cy="1883664"/>
          </a:xfrm>
          <a:prstGeom prst="roundRect">
            <a:avLst>
              <a:gd name="adj" fmla="val 5000"/>
            </a:avLst>
          </a:prstGeom>
          <a:solidFill>
            <a:srgbClr val="0A0A12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wl_p6_x47_805x282.png"/>
          <p:cNvPicPr>
            <a:picLocks noChangeAspect="1"/>
          </p:cNvPicPr>
          <p:nvPr/>
        </p:nvPicPr>
        <p:blipFill>
          <a:blip r:embed="rId3"/>
          <a:srcRect t="13000" b="5000" l="2000" r="7000"/>
          <a:stretch>
            <a:fillRect/>
          </a:stretch>
        </p:blipFill>
        <p:spPr>
          <a:xfrm>
            <a:off x="5961888" y="1993392"/>
            <a:ext cx="4754880" cy="16656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98464" y="3456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+ 0.1 L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341985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3F2F8"/>
                </a:solidFill>
                <a:latin typeface="Garamond"/>
              </a:rPr>
              <a:t>629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80390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8A899F"/>
                </a:solidFill>
                <a:latin typeface="Segoe UI"/>
              </a:rPr>
              <a:t>Measured live on the real bowl — f ∝ √(k/m): more water → more mass → a lower note. Overtones near 1756 Hz make it an inharmonic resonator.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61104"/>
            <a:ext cx="10509199" cy="1700784"/>
          </a:xfrm>
          <a:prstGeom prst="roundRect">
            <a:avLst>
              <a:gd name="adj" fmla="val 5000"/>
            </a:avLst>
          </a:prstGeom>
          <a:solidFill>
            <a:srgbClr val="14141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4439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20">
                <a:solidFill>
                  <a:srgbClr val="34D399"/>
                </a:solidFill>
                <a:latin typeface="Segoe UI"/>
              </a:rPr>
              <a:t>ALREADY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846320"/>
            <a:ext cx="475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Bowl frequencies measured — 647 Hz, falling to 629 Hz with 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6703" y="4846320"/>
            <a:ext cx="475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Body tracking runs live — head &amp; torso at 0.97 / 0.99 confidence, no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5358383"/>
            <a:ext cx="475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Particle system smoke-tested — 1031 of 2048 gather to a still 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703" y="5358383"/>
            <a:ext cx="475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C9C8D8"/>
                </a:solidFill>
                <a:latin typeface="Segoe UI"/>
              </a:rPr>
              <a:t>The whole show runs on one laptop, fully 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PROTOTYPE &amp; FEASIBILITY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11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4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4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40"/>
                      </p:stCondLst>
                      <p:childTnLst>
                        <p:par>
                          <p:cTn id="13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3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70"/>
                      </p:stCondLst>
                      <p:childTnLst>
                        <p:par>
                          <p:cTn id="144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2" dur="52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3" dur="5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SOUND BECOMES 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Frequency → chakra → cymatics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066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8A899F"/>
                </a:solidFill>
                <a:latin typeface="Segoe UI"/>
              </a:rPr>
              <a:t>NEAREST SOLFEGGIO CHAKRA  (396–963 Hz)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487168"/>
            <a:ext cx="274320" cy="274320"/>
          </a:xfrm>
          <a:prstGeom prst="ellipse">
            <a:avLst/>
          </a:prstGeom>
          <a:solidFill>
            <a:srgbClr val="F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45059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Root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450591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396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2450591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release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907791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871215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Sacral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871215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417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871215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change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328415"/>
            <a:ext cx="274320" cy="27432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291839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Solar Plexus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291839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528 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3291839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12463"/>
            <a:ext cx="5257800" cy="402336"/>
          </a:xfrm>
          <a:prstGeom prst="roundRect">
            <a:avLst>
              <a:gd name="adj" fmla="val 20000"/>
            </a:avLst>
          </a:prstGeom>
          <a:solidFill>
            <a:srgbClr val="34D39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749039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3712463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2F8"/>
                </a:solidFill>
                <a:latin typeface="Segoe UI"/>
              </a:rPr>
              <a:t>Heart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712463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639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3712463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4D399"/>
                </a:solidFill>
                <a:latin typeface="Garamond"/>
              </a:rPr>
              <a:t>← the bowl, 647 Hz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" y="4169663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4133087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Throat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4133087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741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133087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expression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590288"/>
            <a:ext cx="274320" cy="274320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45537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Third Eye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455371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852 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4553712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intuition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" y="5010912"/>
            <a:ext cx="274320" cy="274320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4974336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8D8"/>
                </a:solidFill>
                <a:latin typeface="Segoe UI"/>
              </a:rPr>
              <a:t>Crown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4974336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99F"/>
                </a:solidFill>
                <a:latin typeface="Segoe UI"/>
              </a:rPr>
              <a:t>963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49743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awakening</a:t>
            </a:r>
          </a:p>
        </p:txBody>
      </p:sp>
      <p:pic>
        <p:nvPicPr>
          <p:cNvPr id="36" name="Picture 35" descr="cymatic_p2_x2_997x952.png"/>
          <p:cNvPicPr>
            <a:picLocks noChangeAspect="1"/>
          </p:cNvPicPr>
          <p:nvPr/>
        </p:nvPicPr>
        <p:blipFill>
          <a:blip r:embed="rId2"/>
          <a:srcRect t="12000" l="3000" r="3000" b="2000"/>
          <a:stretch>
            <a:fillRect/>
          </a:stretch>
        </p:blipFill>
        <p:spPr>
          <a:xfrm>
            <a:off x="6629400" y="2194560"/>
            <a:ext cx="2249424" cy="2249424"/>
          </a:xfrm>
          <a:prstGeom prst="rect">
            <a:avLst/>
          </a:prstGeom>
        </p:spPr>
      </p:pic>
      <p:pic>
        <p:nvPicPr>
          <p:cNvPr id="37" name="Picture 36" descr="cymatic_p2_x3_996x951.png"/>
          <p:cNvPicPr>
            <a:picLocks noChangeAspect="1"/>
          </p:cNvPicPr>
          <p:nvPr/>
        </p:nvPicPr>
        <p:blipFill>
          <a:blip r:embed="rId3"/>
          <a:srcRect t="12000" l="3000" r="3000" b="2000"/>
          <a:stretch>
            <a:fillRect/>
          </a:stretch>
        </p:blipFill>
        <p:spPr>
          <a:xfrm>
            <a:off x="9043416" y="2194560"/>
            <a:ext cx="2249424" cy="2249424"/>
          </a:xfrm>
          <a:prstGeom prst="rect">
            <a:avLst/>
          </a:prstGeom>
        </p:spPr>
      </p:pic>
      <p:pic>
        <p:nvPicPr>
          <p:cNvPr id="38" name="Picture 37" descr="cymatic_p2_x4_993x947.png"/>
          <p:cNvPicPr>
            <a:picLocks noChangeAspect="1"/>
          </p:cNvPicPr>
          <p:nvPr/>
        </p:nvPicPr>
        <p:blipFill>
          <a:blip r:embed="rId4"/>
          <a:srcRect t="12000" l="3000" r="3000" b="2000"/>
          <a:stretch>
            <a:fillRect/>
          </a:stretch>
        </p:blipFill>
        <p:spPr>
          <a:xfrm>
            <a:off x="6629400" y="4608576"/>
            <a:ext cx="2249424" cy="2249424"/>
          </a:xfrm>
          <a:prstGeom prst="rect">
            <a:avLst/>
          </a:prstGeom>
        </p:spPr>
      </p:pic>
      <p:pic>
        <p:nvPicPr>
          <p:cNvPr id="39" name="Picture 38" descr="cymatic_p2_x5_990x940.png"/>
          <p:cNvPicPr>
            <a:picLocks noChangeAspect="1"/>
          </p:cNvPicPr>
          <p:nvPr/>
        </p:nvPicPr>
        <p:blipFill>
          <a:blip r:embed="rId5"/>
          <a:srcRect t="12000" l="3000" r="3000" b="2000"/>
          <a:stretch>
            <a:fillRect/>
          </a:stretch>
        </p:blipFill>
        <p:spPr>
          <a:xfrm>
            <a:off x="9043416" y="4608576"/>
            <a:ext cx="2249424" cy="22494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29400" y="69128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One equation, sin(kx)·sin(ky) — denser as the note rises.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SOUND → COLOUR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12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1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7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7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7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7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2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40"/>
                      </p:stCondLst>
                      <p:childTnLst>
                        <p:par>
                          <p:cTn id="15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520"/>
                                  <p:tgtEl>
                                    <p:spTgt spid="36"/>
                                  </p:tgtEl>
                                </p:cBhvr>
                              </p:animEffect>
                              <p:animScale>
                                <p:cBhvr>
                                  <p:cTn id="158" dur="520" fill="hold"/>
                                  <p:tgtEl>
                                    <p:spTgt spid="36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40"/>
                      </p:stCondLst>
                      <p:childTnLst>
                        <p:par>
                          <p:cTn id="164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520"/>
                                  <p:tgtEl>
                                    <p:spTgt spid="37"/>
                                  </p:tgtEl>
                                </p:cBhvr>
                              </p:animEffect>
                              <p:animScale>
                                <p:cBhvr>
                                  <p:cTn id="163" dur="520" fill="hold"/>
                                  <p:tgtEl>
                                    <p:spTgt spid="37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40"/>
                      </p:stCondLst>
                      <p:childTnLst>
                        <p:par>
                          <p:cTn id="169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520"/>
                                  <p:tgtEl>
                                    <p:spTgt spid="38"/>
                                  </p:tgtEl>
                                </p:cBhvr>
                              </p:animEffect>
                              <p:animScale>
                                <p:cBhvr>
                                  <p:cTn id="168" dur="520" fill="hold"/>
                                  <p:tgtEl>
                                    <p:spTgt spid="38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40"/>
                      </p:stCondLst>
                      <p:childTnLst>
                        <p:par>
                          <p:cTn id="174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20"/>
                                  <p:tgtEl>
                                    <p:spTgt spid="39"/>
                                  </p:tgtEl>
                                </p:cBhvr>
                              </p:animEffect>
                              <p:animScale>
                                <p:cBhvr>
                                  <p:cTn id="173" dur="520" fill="hold"/>
                                  <p:tgtEl>
                                    <p:spTgt spid="39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40"/>
                      </p:stCondLst>
                      <p:childTnLst>
                        <p:par>
                          <p:cTn id="17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42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54864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FB7185">
                  <a:alpha val="18000"/>
                </a:srgbClr>
              </a:gs>
              <a:gs pos="100000">
                <a:srgbClr val="FB7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FB7185"/>
                </a:solidFill>
                <a:latin typeface="Segoe UI"/>
              </a:rPr>
              <a:t>THE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Your pulse sets the rhythm — and the colour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157984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>An Arduino pulse sensor reads your heart rate, then smooths it into a low-frequency pulse that drives the whole image.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>Every beat, the visuals gently throb — the way a calm body breathes.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B7185"/>
                </a:solidFill>
                <a:latin typeface="Segoe UI"/>
              </a:rPr>
              <a:t>pulse sensor  </a:t>
            </a:r>
            <a:r>
              <a:rPr sz="1350" b="0" i="0">
                <a:solidFill>
                  <a:srgbClr val="8A899F"/>
                </a:solidFill>
                <a:latin typeface="Segoe UI"/>
              </a:rPr>
              <a:t>→  BPM  →  smoothed  →  </a:t>
            </a:r>
            <a:r>
              <a:rPr sz="1350" b="1" i="0">
                <a:solidFill>
                  <a:srgbClr val="FB7185"/>
                </a:solidFill>
                <a:latin typeface="Segoe UI"/>
              </a:rPr>
              <a:t>heartbeat LFO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8A899F"/>
                </a:solidFill>
                <a:latin typeface="Segoe UI"/>
              </a:rPr>
              <a:t>BPM  →  COLOUR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1170431" cy="640080"/>
          </a:xfrm>
          <a:prstGeom prst="roundRect">
            <a:avLst>
              <a:gd name="adj" fmla="val 1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236976"/>
            <a:ext cx="11704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2F8"/>
                </a:solidFill>
                <a:latin typeface="Garamond"/>
              </a:rPr>
              <a:t>&lt; 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602736"/>
            <a:ext cx="1170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899F"/>
                </a:solidFill>
                <a:latin typeface="Segoe UI"/>
              </a:rPr>
              <a:t>calm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2468880"/>
            <a:ext cx="1170431" cy="640080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3236976"/>
            <a:ext cx="11704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2F8"/>
                </a:solidFill>
                <a:latin typeface="Garamond"/>
              </a:rPr>
              <a:t>62–72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3602736"/>
            <a:ext cx="1170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899F"/>
                </a:solidFill>
                <a:latin typeface="Segoe UI"/>
              </a:rPr>
              <a:t>resting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2468880"/>
            <a:ext cx="1170431" cy="64008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3236976"/>
            <a:ext cx="11704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2F8"/>
                </a:solidFill>
                <a:latin typeface="Garamond"/>
              </a:rPr>
              <a:t>72–85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602736"/>
            <a:ext cx="1170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899F"/>
                </a:solidFill>
                <a:latin typeface="Segoe UI"/>
              </a:rPr>
              <a:t>neutral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76688" y="2468880"/>
            <a:ext cx="1170431" cy="640080"/>
          </a:xfrm>
          <a:prstGeom prst="roundRect">
            <a:avLst>
              <a:gd name="adj" fmla="val 18000"/>
            </a:avLst>
          </a:prstGeom>
          <a:solidFill>
            <a:srgbClr val="FB7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688" y="3236976"/>
            <a:ext cx="11704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2F8"/>
                </a:solidFill>
                <a:latin typeface="Garamond"/>
              </a:rPr>
              <a:t>≥ 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3602736"/>
            <a:ext cx="1170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899F"/>
                </a:solidFill>
                <a:latin typeface="Segoe UI"/>
              </a:rPr>
              <a:t>elevated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14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8D8"/>
                </a:solidFill>
                <a:latin typeface="Segoe UI"/>
              </a:rPr>
              <a:t>Calmer heart → cool violets and cyans.   Faster heart → warm ambers and oranges.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HEARTBEAT → PULSE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13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80"/>
                      </p:stCondLst>
                      <p:childTnLst>
                        <p:par>
                          <p:cTn id="1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6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"/>
                      </p:stCondLst>
                      <p:childTnLst>
                        <p:par>
                          <p:cTn id="12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4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7" dur="3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2" dur="3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7" dur="3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2" dur="36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60"/>
                      </p:stCondLst>
                      <p:childTnLst>
                        <p:par>
                          <p:cTn id="1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6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73152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22D3EE">
                  <a:alpha val="18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22D3EE"/>
                </a:solidFill>
                <a:latin typeface="Segoe UI"/>
              </a:rPr>
              <a:t>THE 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The visuals wrap around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157984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>A single webcam feeds MediaPipe pose tracking — it finds your head, hands and torso many times a second, fully on-device.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8D8"/>
                </a:solidFill>
                <a:latin typeface="Segoe UI"/>
              </a:rPr>
              <a:t>The aura and a 2,048-particle field follow you: particles gather to still hands, and scatter from fast ones, so motion becomes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370832"/>
            <a:ext cx="5486400" cy="493776"/>
          </a:xfrm>
          <a:prstGeom prst="roundRect">
            <a:avLst>
              <a:gd name="adj" fmla="val 14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" y="452628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4370832"/>
            <a:ext cx="48463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3F2F8"/>
                </a:solidFill>
                <a:latin typeface="Segoe UI"/>
              </a:rPr>
              <a:t>On-device tracking  —  </a:t>
            </a:r>
            <a:r>
              <a:rPr sz="1250" b="0" i="0">
                <a:solidFill>
                  <a:srgbClr val="8A899F"/>
                </a:solidFill>
                <a:latin typeface="Segoe UI"/>
              </a:rPr>
              <a:t>no internet, no markers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937760"/>
            <a:ext cx="5486400" cy="493776"/>
          </a:xfrm>
          <a:prstGeom prst="roundRect">
            <a:avLst>
              <a:gd name="adj" fmla="val 14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2416" y="5093208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4937760"/>
            <a:ext cx="48463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3F2F8"/>
                </a:solidFill>
                <a:latin typeface="Segoe UI"/>
              </a:rPr>
              <a:t>2,048 GPU particles  —  </a:t>
            </a:r>
            <a:r>
              <a:rPr sz="1250" b="0" i="0">
                <a:solidFill>
                  <a:srgbClr val="8A899F"/>
                </a:solidFill>
                <a:latin typeface="Segoe UI"/>
              </a:rPr>
              <a:t>gather &amp; scatter with your hands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504688"/>
            <a:ext cx="5486400" cy="493776"/>
          </a:xfrm>
          <a:prstGeom prst="roundRect">
            <a:avLst>
              <a:gd name="adj" fmla="val 14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5660136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5504688"/>
            <a:ext cx="48463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3F2F8"/>
                </a:solidFill>
                <a:latin typeface="Segoe UI"/>
              </a:rPr>
              <a:t>One-Euro smoothing  —  </a:t>
            </a:r>
            <a:r>
              <a:rPr sz="1250" b="0" i="0">
                <a:solidFill>
                  <a:srgbClr val="8A899F"/>
                </a:solidFill>
                <a:latin typeface="Segoe UI"/>
              </a:rPr>
              <a:t>the aura glides, never snaps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1188719"/>
            <a:ext cx="3657600" cy="3657600"/>
          </a:xfrm>
          <a:prstGeom prst="ellipse">
            <a:avLst/>
          </a:prstGeom>
          <a:gradFill rotWithShape="1">
            <a:gsLst>
              <a:gs pos="0">
                <a:srgbClr val="22D3EE">
                  <a:alpha val="10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0" y="1645919"/>
            <a:ext cx="2743200" cy="2743200"/>
          </a:xfrm>
          <a:prstGeom prst="ellipse">
            <a:avLst/>
          </a:prstGeom>
          <a:gradFill rotWithShape="1">
            <a:gsLst>
              <a:gs pos="0">
                <a:srgbClr val="8B5CF6">
                  <a:alpha val="16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2103120"/>
            <a:ext cx="1828800" cy="1828800"/>
          </a:xfrm>
          <a:prstGeom prst="ellipse">
            <a:avLst/>
          </a:prstGeom>
          <a:gradFill rotWithShape="1">
            <a:gsLst>
              <a:gs pos="0">
                <a:srgbClr val="D9B775">
                  <a:alpha val="22000"/>
                </a:srgbClr>
              </a:gs>
              <a:gs pos="100000">
                <a:srgbClr val="D9B77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51392" y="2194560"/>
            <a:ext cx="402336" cy="1645920"/>
          </a:xfrm>
          <a:prstGeom prst="roundRect">
            <a:avLst>
              <a:gd name="adj" fmla="val 50000"/>
            </a:avLst>
          </a:prstGeom>
          <a:solidFill>
            <a:srgbClr val="F3F2F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51392" y="1828799"/>
            <a:ext cx="402336" cy="402336"/>
          </a:xfrm>
          <a:prstGeom prst="ellipse">
            <a:avLst/>
          </a:prstGeom>
          <a:solidFill>
            <a:srgbClr val="F3F2F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BODY →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14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0"/>
                      </p:stCondLst>
                      <p:childTnLst>
                        <p:par>
                          <p:cTn id="11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7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30"/>
                      </p:stCondLst>
                      <p:childTnLst>
                        <p:par>
                          <p:cTn id="12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2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30"/>
                      </p:stCondLst>
                      <p:childTnLst>
                        <p:par>
                          <p:cTn id="12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7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7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2" dur="7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40"/>
                      </p:stCondLst>
                      <p:childTnLst>
                        <p:par>
                          <p:cTn id="1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6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46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You become part of the artwork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41248" y="2139696"/>
            <a:ext cx="384048" cy="384048"/>
          </a:xfrm>
          <a:prstGeom prst="ellipse">
            <a:avLst/>
          </a:prstGeom>
          <a:solidFill>
            <a:srgbClr val="1A1A2A"/>
          </a:solidFill>
          <a:ln w="1524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5798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B775"/>
                </a:solidFill>
                <a:latin typeface="Garamo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139696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C8D8"/>
                </a:solidFill>
                <a:latin typeface="Segoe UI"/>
              </a:rPr>
              <a:t>You step in front of the installation.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706624"/>
            <a:ext cx="384048" cy="384048"/>
          </a:xfrm>
          <a:prstGeom prst="ellipse">
            <a:avLst/>
          </a:prstGeom>
          <a:solidFill>
            <a:srgbClr val="1A1A2A"/>
          </a:solidFill>
          <a:ln w="1524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24912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B775"/>
                </a:solidFill>
                <a:latin typeface="Garamo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70662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C8D8"/>
                </a:solidFill>
                <a:latin typeface="Segoe UI"/>
              </a:rPr>
              <a:t>The Tibetan bowl is played.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273552"/>
            <a:ext cx="384048" cy="384048"/>
          </a:xfrm>
          <a:prstGeom prst="ellipse">
            <a:avLst/>
          </a:prstGeom>
          <a:solidFill>
            <a:srgbClr val="1A1A2A"/>
          </a:solidFill>
          <a:ln w="1524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91840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B775"/>
                </a:solidFill>
                <a:latin typeface="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73552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C8D8"/>
                </a:solidFill>
                <a:latin typeface="Segoe UI"/>
              </a:rPr>
              <a:t>Your heartbeat is read as the bowl keeps ringing.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840479"/>
            <a:ext cx="384048" cy="384048"/>
          </a:xfrm>
          <a:prstGeom prst="ellipse">
            <a:avLst/>
          </a:prstGeom>
          <a:solidFill>
            <a:srgbClr val="1A1A2A"/>
          </a:solidFill>
          <a:ln w="1524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58767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B775"/>
                </a:solidFill>
                <a:latin typeface="Garamon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40479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C8D8"/>
                </a:solidFill>
                <a:latin typeface="Segoe UI"/>
              </a:rPr>
              <a:t>Sound, pulse and body turn into a live visual field.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407408"/>
            <a:ext cx="384048" cy="384048"/>
          </a:xfrm>
          <a:prstGeom prst="ellipse">
            <a:avLst/>
          </a:prstGeom>
          <a:solidFill>
            <a:srgbClr val="1A1A2A"/>
          </a:solidFill>
          <a:ln w="15240">
            <a:solidFill>
              <a:srgbClr val="D9B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B775"/>
                </a:solidFill>
                <a:latin typeface="Garamon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40740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3F2F8"/>
                </a:solidFill>
                <a:latin typeface="Segoe UI"/>
              </a:rPr>
              <a:t>As you settle, the colours cool and slow — you see yourself calm.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176272"/>
            <a:ext cx="5065776" cy="2790815"/>
          </a:xfrm>
          <a:prstGeom prst="roundRect">
            <a:avLst>
              <a:gd name="adj" fmla="val 5000"/>
            </a:avLst>
          </a:prstGeom>
          <a:solidFill>
            <a:srgbClr val="0A0A12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dnet_p4_x34_1259x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4846320" cy="2571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5021951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99F"/>
                </a:solidFill>
                <a:latin typeface="Segoe UI"/>
              </a:rPr>
              <a:t>The real engine: our TouchDesigner network, running live.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450592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9B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450592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0A0A12"/>
                </a:solidFill>
                <a:latin typeface="Segoe UI"/>
              </a:rPr>
              <a:t>▶ 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THE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15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20"/>
                      </p:stCondLst>
                      <p:childTnLst>
                        <p:par>
                          <p:cTn id="11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60"/>
                                  <p:tgtEl>
                                    <p:spTgt spid="6"/>
                                  </p:tgtEl>
                                </p:cBhvr>
                              </p:animEffect>
                              <p:animScale>
                                <p:cBhvr>
                                  <p:cTn id="118" dur="360" fill="hold"/>
                                  <p:tgtEl>
                                    <p:spTgt spid="6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3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20"/>
                      </p:stCondLst>
                      <p:childTnLst>
                        <p:par>
                          <p:cTn id="12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360"/>
                                  <p:tgtEl>
                                    <p:spTgt spid="9"/>
                                  </p:tgtEl>
                                </p:cBhvr>
                              </p:animEffect>
                              <p:animScale>
                                <p:cBhvr>
                                  <p:cTn id="128" dur="360" fill="hold"/>
                                  <p:tgtEl>
                                    <p:spTgt spid="9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20"/>
                      </p:stCondLst>
                      <p:childTnLst>
                        <p:par>
                          <p:cTn id="13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360"/>
                                  <p:tgtEl>
                                    <p:spTgt spid="12"/>
                                  </p:tgtEl>
                                </p:cBhvr>
                              </p:animEffect>
                              <p:animScale>
                                <p:cBhvr>
                                  <p:cTn id="138" dur="360" fill="hold"/>
                                  <p:tgtEl>
                                    <p:spTgt spid="12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2" dur="3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20"/>
                      </p:stCondLst>
                      <p:childTnLst>
                        <p:par>
                          <p:cTn id="14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360"/>
                                  <p:tgtEl>
                                    <p:spTgt spid="15"/>
                                  </p:tgtEl>
                                </p:cBhvr>
                              </p:animEffect>
                              <p:animScale>
                                <p:cBhvr>
                                  <p:cTn id="148" dur="360" fill="hold"/>
                                  <p:tgtEl>
                                    <p:spTgt spid="15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3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20"/>
                      </p:stCondLst>
                      <p:childTnLst>
                        <p:par>
                          <p:cTn id="15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360"/>
                                  <p:tgtEl>
                                    <p:spTgt spid="18"/>
                                  </p:tgtEl>
                                </p:cBhvr>
                              </p:animEffect>
                              <p:animScale>
                                <p:cBhvr>
                                  <p:cTn id="158" dur="360" fill="hold"/>
                                  <p:tgtEl>
                                    <p:spTgt spid="18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36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60"/>
                      </p:stCondLst>
                      <p:childTnLst>
                        <p:par>
                          <p:cTn id="16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6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64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60"/>
                      </p:stCondLst>
                      <p:childTnLst>
                        <p:par>
                          <p:cTn id="179" presetID="23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460"/>
                                  <p:tgtEl>
                                    <p:spTgt spid="24"/>
                                  </p:tgtEl>
                                </p:cBhvr>
                              </p:animEffect>
                              <p:animScale>
                                <p:cBhvr>
                                  <p:cTn id="178" dur="460" fill="hold"/>
                                  <p:tgtEl>
                                    <p:spTgt spid="24"/>
                                  </p:tgtEl>
                                </p:cBhvr>
                                <p:by x="100000" y="100000"/>
                                <p:from x="60000" y="6000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2" dur="3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4480" y="-1828800"/>
            <a:ext cx="9144000" cy="9144000"/>
          </a:xfrm>
          <a:prstGeom prst="ellipse">
            <a:avLst/>
          </a:prstGeom>
          <a:gradFill rotWithShape="1">
            <a:gsLst>
              <a:gs pos="0">
                <a:srgbClr val="8B5CF6">
                  <a:alpha val="16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20">
                <a:solidFill>
                  <a:srgbClr val="D9B775"/>
                </a:solidFill>
                <a:latin typeface="Segoe UI"/>
              </a:rPr>
              <a:t>REFLECTION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2F8"/>
                </a:solidFill>
                <a:latin typeface="Garamond"/>
              </a:rPr>
              <a:t>What we fixed — and where we go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591056"/>
            <a:ext cx="786384" cy="0"/>
          </a:xfrm>
          <a:prstGeom prst="bentConnector3">
            <a:avLst/>
          </a:prstGeom>
          <a:ln w="27940">
            <a:solidFill>
              <a:srgbClr val="D9B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139696"/>
            <a:ext cx="502920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3408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B7185"/>
                </a:solidFill>
                <a:latin typeface="Segoe UI"/>
              </a:rPr>
              <a:t>FROM THE MIDTERM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9C8D8"/>
                </a:solidFill>
                <a:latin typeface="Segoe UI"/>
              </a:rPr>
              <a:t>“Idea wasn't visualised”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05409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→  </a:t>
            </a:r>
            <a:r>
              <a:rPr sz="1300" b="1" i="0">
                <a:solidFill>
                  <a:srgbClr val="F3F2F8"/>
                </a:solidFill>
                <a:latin typeface="Segoe UI"/>
              </a:rPr>
              <a:t>now a live, reacting installation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4381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9C8D8"/>
                </a:solidFill>
                <a:latin typeface="Segoe UI"/>
              </a:rPr>
              <a:t>“Too complex”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→  </a:t>
            </a:r>
            <a:r>
              <a:rPr sz="1300" b="1" i="0">
                <a:solidFill>
                  <a:srgbClr val="F3F2F8"/>
                </a:solidFill>
                <a:latin typeface="Segoe UI"/>
              </a:rPr>
              <a:t>one clear story: sound + body + calm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9C8D8"/>
                </a:solidFill>
                <a:latin typeface="Segoe UI"/>
              </a:rPr>
              <a:t>“Not explained clearly”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407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→  </a:t>
            </a:r>
            <a:r>
              <a:rPr sz="1300" b="1" i="0">
                <a:solidFill>
                  <a:srgbClr val="F3F2F8"/>
                </a:solidFill>
                <a:latin typeface="Segoe UI"/>
              </a:rPr>
              <a:t>this deck and a live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139696"/>
            <a:ext cx="5029200" cy="2834640"/>
          </a:xfrm>
          <a:prstGeom prst="roundRect">
            <a:avLst>
              <a:gd name="adj" fmla="val 6000"/>
            </a:avLst>
          </a:prstGeom>
          <a:solidFill>
            <a:srgbClr val="14141F"/>
          </a:solidFill>
          <a:ln w="12700">
            <a:solidFill>
              <a:srgbClr val="2C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23408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2D3EE"/>
                </a:solidFill>
                <a:latin typeface="Segoe UI"/>
              </a:rPr>
              <a:t>WHAT'S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761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F3F2F8"/>
                </a:solidFill>
                <a:latin typeface="Segoe UI"/>
              </a:rPr>
              <a:t>More instruments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5409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kalimba, tuning fork, chimes — to reach every chakra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4381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F3F2F8"/>
                </a:solidFill>
                <a:latin typeface="Segoe UI"/>
              </a:rPr>
              <a:t>Live Arduino BPM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307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flash the sensor, verify the pulse on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F3F2F8"/>
                </a:solidFill>
                <a:latin typeface="Segoe UI"/>
              </a:rPr>
              <a:t>Floating body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40740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99F"/>
                </a:solidFill>
                <a:latin typeface="Segoe UI"/>
              </a:rPr>
              <a:t>drop the room so the person floats on black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F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99616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57984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16352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33087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91456" y="5340096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5212080"/>
            <a:ext cx="5388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F3F2F8"/>
                </a:solidFill>
                <a:latin typeface="Garamond"/>
              </a:rPr>
              <a:t>Thank you.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742432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60">
                <a:solidFill>
                  <a:srgbClr val="8A899F"/>
                </a:solidFill>
                <a:latin typeface="Segoe UI"/>
              </a:rPr>
              <a:t>Creative Bowl Lab  ·  Group 5  ·  TU/e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8A899F"/>
                </a:solidFill>
                <a:latin typeface="Segoe UI"/>
              </a:rPr>
              <a:t>CREATIVE BOWL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647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40">
                <a:solidFill>
                  <a:srgbClr val="8A899F"/>
                </a:solidFill>
                <a:latin typeface="Segoe UI"/>
              </a:rPr>
              <a:t>REFLECTION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8A899F"/>
                </a:solidFill>
                <a:latin typeface="Segoe UI"/>
              </a:rPr>
              <a:t>GROUP 5  ·  16 / 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120"/>
                      </p:stCondLst>
                      <p:childTnLst>
                        <p:par>
                          <p:cTn id="10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40"/>
                      </p:stCondLst>
                      <p:childTnLst>
                        <p:par>
                          <p:cTn id="10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64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64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70"/>
                      </p:stCondLst>
                      <p:childTnLst>
                        <p:par>
                          <p:cTn id="119" presetID="42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4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4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4" presetID="4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4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y+.04"/>
                                    </p:val>
                                  </p:tav>
                                  <p:tav tm="100000">
                                    <p:val>
                                      <p:strVal val="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4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2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7" dur="3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2" dur="3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3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7" dur="3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2" dur="3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7" dur="3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4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2" dur="3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59" presetID="22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7" dur="32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60"/>
                      </p:stCondLst>
                      <p:childTnLst>
                        <p:par>
                          <p:cTn id="16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5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30"/>
                      </p:stCondLst>
                      <p:childTnLst>
                        <p:par>
                          <p:cTn id="16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3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